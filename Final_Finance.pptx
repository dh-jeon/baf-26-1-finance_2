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4985" y="2413000"/>
            <a:ext cx="761998" cy="761999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885" y="2501900"/>
            <a:ext cx="584198" cy="584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3429000"/>
            <a:ext cx="12191969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5600" b="1" i="0">
                <a:solidFill>
                  <a:srgbClr val="FFFFFF"/>
                </a:solidFill>
                <a:latin typeface="Pretendard"/>
              </a:rPr>
              <a:t>유가 일일 변동 예측 모델링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445000"/>
            <a:ext cx="12191969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0" i="0">
                <a:solidFill>
                  <a:srgbClr val="929AA5"/>
                </a:solidFill>
                <a:latin typeface="Pretendard"/>
              </a:rPr>
              <a:t>OLS · LGBM · SHAP — 4개 dataset 비교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095999"/>
            <a:ext cx="1219196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 spc="150">
                <a:solidFill>
                  <a:srgbClr val="707A8A"/>
                </a:solidFill>
                <a:latin typeface="Pretendard"/>
              </a:rPr>
              <a:t>DH-Jeon  ·  BAF-26-1 Finance  ·  2026-05-16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6398" y="279400"/>
            <a:ext cx="253999" cy="254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98" y="304800"/>
            <a:ext cx="203199" cy="20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1998" y="342900"/>
            <a:ext cx="507998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50">
                <a:solidFill>
                  <a:srgbClr val="FCD535"/>
                </a:solidFill>
                <a:latin typeface="Pretendard"/>
              </a:rPr>
              <a:t>00 ·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583" y="342900"/>
            <a:ext cx="507998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707A8A"/>
                </a:solidFill>
                <a:latin typeface="JetBrains Mono"/>
              </a:rPr>
              <a:t>02 / 23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06398" y="609600"/>
            <a:ext cx="11379172" cy="0"/>
          </a:xfrm>
          <a:prstGeom prst="line">
            <a:avLst/>
          </a:prstGeom>
          <a:ln w="9525">
            <a:solidFill>
              <a:srgbClr val="2B31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06398" y="965200"/>
            <a:ext cx="10794973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Pretendard"/>
              </a:rPr>
              <a:t>Agenda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398" y="1574800"/>
            <a:ext cx="10794973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929AA5"/>
                </a:solidFill>
                <a:latin typeface="Pretendard"/>
              </a:rPr>
              <a:t>여섯 단계로 구성된 유가 예측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398" y="2159000"/>
            <a:ext cx="507998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CD535"/>
                </a:solidFill>
                <a:latin typeface="JetBrains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5997" y="2159000"/>
            <a:ext cx="4444988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Pretendard"/>
              </a:rPr>
              <a:t>Background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09990" y="2209800"/>
            <a:ext cx="761998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929AA5"/>
                </a:solidFill>
                <a:latin typeface="Pretendard"/>
              </a:rPr>
              <a:t>연구 동기와 문제 정의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398" y="2768600"/>
            <a:ext cx="507998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CD535"/>
                </a:solidFill>
                <a:latin typeface="JetBrains Mon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5997" y="2768600"/>
            <a:ext cx="4444988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Pretendard"/>
              </a:rPr>
              <a:t>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990" y="2819399"/>
            <a:ext cx="761998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929AA5"/>
                </a:solidFill>
                <a:latin typeface="Pretendard"/>
              </a:rPr>
              <a:t>4개 dataset 구성과 변수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398" y="3378200"/>
            <a:ext cx="507998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CD535"/>
                </a:solidFill>
                <a:latin typeface="JetBrains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5997" y="3378200"/>
            <a:ext cx="4444988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Pretendard"/>
              </a:rPr>
              <a:t>EDA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09990" y="3429000"/>
            <a:ext cx="761998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929AA5"/>
                </a:solidFill>
                <a:latin typeface="Pretendard"/>
              </a:rPr>
              <a:t>전처리 및 변수 진단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398" y="3987799"/>
            <a:ext cx="507998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CD535"/>
                </a:solidFill>
                <a:latin typeface="JetBrains Mono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5997" y="3987799"/>
            <a:ext cx="4444988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Pretendard"/>
              </a:rPr>
              <a:t>Modeling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09990" y="4038599"/>
            <a:ext cx="761998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929AA5"/>
                </a:solidFill>
                <a:latin typeface="Pretendard"/>
              </a:rPr>
              <a:t>OLS · Ridge · Lasso · LGBM 비교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398" y="4597400"/>
            <a:ext cx="507998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CD535"/>
                </a:solidFill>
                <a:latin typeface="JetBrains Mono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5997" y="4597400"/>
            <a:ext cx="4444988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Pretendard"/>
              </a:rPr>
              <a:t>SHAP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09990" y="4648200"/>
            <a:ext cx="761998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929AA5"/>
                </a:solidFill>
                <a:latin typeface="Pretendard"/>
              </a:rPr>
              <a:t>비선형 기여도 해석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398" y="5206999"/>
            <a:ext cx="507998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CD535"/>
                </a:solidFill>
                <a:latin typeface="JetBrains Mono"/>
              </a:rP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5997" y="5206999"/>
            <a:ext cx="4444988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Pretendard"/>
              </a:rPr>
              <a:t>Conclusion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09990" y="5257800"/>
            <a:ext cx="7619980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929AA5"/>
                </a:solidFill>
                <a:latin typeface="Pretendard"/>
              </a:rPr>
              <a:t>체계적 변수와 한계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06398" y="6413500"/>
            <a:ext cx="11379172" cy="0"/>
          </a:xfrm>
          <a:prstGeom prst="line">
            <a:avLst/>
          </a:prstGeom>
          <a:ln w="9525">
            <a:solidFill>
              <a:srgbClr val="2B31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06398" y="6477000"/>
            <a:ext cx="6984982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07A8A"/>
                </a:solidFill>
                <a:latin typeface="Pretendard"/>
              </a:rPr>
              <a:t>Final · 유가 예측 모델링 · 2026-05-16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4988" y="6477000"/>
            <a:ext cx="7340581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07A8A"/>
                </a:solidFill>
                <a:latin typeface="Pretendard"/>
              </a:rPr>
              <a:t>DH-Jeon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3429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98" y="1270000"/>
            <a:ext cx="5079987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 i="0">
                <a:solidFill>
                  <a:srgbClr val="181A20"/>
                </a:solidFill>
                <a:latin typeface="JetBrains Mon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98" y="3809999"/>
            <a:ext cx="9524976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FFFFFF"/>
                </a:solidFill>
                <a:latin typeface="Pretendard"/>
              </a:rPr>
              <a:t>Background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6398" y="279400"/>
            <a:ext cx="253999" cy="254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98" y="304800"/>
            <a:ext cx="203199" cy="20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1998" y="342900"/>
            <a:ext cx="507998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50">
                <a:solidFill>
                  <a:srgbClr val="FCD535"/>
                </a:solidFill>
                <a:latin typeface="Pretendard"/>
              </a:rPr>
              <a:t>01 ·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583" y="342900"/>
            <a:ext cx="507998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707A8A"/>
                </a:solidFill>
                <a:latin typeface="JetBrains Mono"/>
              </a:rPr>
              <a:t>04 / 23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06398" y="609600"/>
            <a:ext cx="11379172" cy="0"/>
          </a:xfrm>
          <a:prstGeom prst="line">
            <a:avLst/>
          </a:prstGeom>
          <a:ln w="9525">
            <a:solidFill>
              <a:srgbClr val="2B31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06398" y="787400"/>
            <a:ext cx="9524976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CD535"/>
                </a:solidFill>
                <a:latin typeface="Pretendard"/>
              </a:rPr>
              <a:t>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398" y="965200"/>
            <a:ext cx="10794973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Pretendard"/>
              </a:rPr>
              <a:t>왜 유가 일일 변동을 모델링하는가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398" y="1574800"/>
            <a:ext cx="10794973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929AA5"/>
                </a:solidFill>
                <a:latin typeface="Pretendard"/>
              </a:rPr>
              <a:t>비선형·국면 의존적 결정요인을 식별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398" y="2286000"/>
            <a:ext cx="507998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CD535"/>
                </a:solidFill>
                <a:latin typeface="JetBrains Mono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5997" y="2336800"/>
            <a:ext cx="10794973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Pretendard"/>
              </a:rPr>
              <a:t>유가는 거시·금융·공급 변수의 복합 함수 — 단일 모델로는 설명력 한계.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398" y="3047999"/>
            <a:ext cx="507998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CD535"/>
                </a:solidFill>
                <a:latin typeface="JetBrains Mon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5997" y="3098800"/>
            <a:ext cx="10794973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Pretendard"/>
              </a:rPr>
              <a:t>선형(OLS)과 비선형(LGBM)을 병행해 체계적 변수와 국면 특이 변수를 분리.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398" y="3809999"/>
            <a:ext cx="507998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CD535"/>
                </a:solidFill>
                <a:latin typeface="JetBrains Mono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5997" y="3860800"/>
            <a:ext cx="10794973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Pretendard"/>
              </a:rPr>
              <a:t>위기 국면(GFC·OPEC·COVID·War)에서 작동하는 변수가 다르다는 가설 검증.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06398" y="6413500"/>
            <a:ext cx="11379172" cy="0"/>
          </a:xfrm>
          <a:prstGeom prst="line">
            <a:avLst/>
          </a:prstGeom>
          <a:ln w="9525">
            <a:solidFill>
              <a:srgbClr val="2B31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06398" y="6477000"/>
            <a:ext cx="6984982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07A8A"/>
                </a:solidFill>
                <a:latin typeface="Pretendard"/>
              </a:rPr>
              <a:t>Final · 유가 예측 모델링 · 2026-05-16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4988" y="6477000"/>
            <a:ext cx="7340581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07A8A"/>
                </a:solidFill>
                <a:latin typeface="Pretendard"/>
              </a:rPr>
              <a:t>DH-Jeon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3429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98" y="1270000"/>
            <a:ext cx="5079987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 i="0">
                <a:solidFill>
                  <a:srgbClr val="181A20"/>
                </a:solidFill>
                <a:latin typeface="JetBrains Mon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98" y="3809999"/>
            <a:ext cx="9524976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FFFFFF"/>
                </a:solidFill>
                <a:latin typeface="Pretendard"/>
              </a:rPr>
              <a:t>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98" y="279400"/>
            <a:ext cx="253999" cy="25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98" y="342900"/>
            <a:ext cx="507998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50">
                <a:solidFill>
                  <a:srgbClr val="FCD535"/>
                </a:solidFill>
                <a:latin typeface="Pretendard"/>
              </a:rPr>
              <a:t>02 ·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583" y="342900"/>
            <a:ext cx="507998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707A8A"/>
                </a:solidFill>
                <a:latin typeface="JetBrains Mono"/>
              </a:rPr>
              <a:t>06 / 23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06398" y="609600"/>
            <a:ext cx="11379172" cy="0"/>
          </a:xfrm>
          <a:prstGeom prst="line">
            <a:avLst/>
          </a:prstGeom>
          <a:ln w="9525">
            <a:solidFill>
              <a:srgbClr val="EAEC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6398" y="965200"/>
            <a:ext cx="10794973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181A20"/>
                </a:solidFill>
                <a:latin typeface="Pretendard"/>
              </a:rPr>
              <a:t>4개 dataset 구성 요약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398" y="1574800"/>
            <a:ext cx="10794973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707A8A"/>
                </a:solidFill>
                <a:latin typeface="Pretendard"/>
              </a:rPr>
              <a:t>2007-02-01 ~ 2026-03-16 · 4,799행 · target std 2.01</a:t>
            </a:r>
          </a:p>
        </p:txBody>
      </p:sp>
      <p:sp>
        <p:nvSpPr>
          <p:cNvPr id="8" name="Rectangle 7"/>
          <p:cNvSpPr/>
          <p:nvPr/>
        </p:nvSpPr>
        <p:spPr>
          <a:xfrm>
            <a:off x="406398" y="2286000"/>
            <a:ext cx="9397976" cy="4064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0698" y="2400300"/>
            <a:ext cx="3327391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20">
                <a:solidFill>
                  <a:srgbClr val="FFFFFF"/>
                </a:solidFill>
                <a:latin typeface="Pretendard"/>
              </a:rPr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76689" y="2400300"/>
            <a:ext cx="1231896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20">
                <a:solidFill>
                  <a:srgbClr val="FFFFFF"/>
                </a:solidFill>
                <a:latin typeface="Pretendard"/>
              </a:rPr>
              <a:t>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7186" y="2400300"/>
            <a:ext cx="1231896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20">
                <a:solidFill>
                  <a:srgbClr val="FFFFFF"/>
                </a:solidFill>
                <a:latin typeface="Pretendard"/>
              </a:rPr>
              <a:t>cols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7682" y="2400300"/>
            <a:ext cx="1231896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20">
                <a:solidFill>
                  <a:srgbClr val="FFFFFF"/>
                </a:solidFill>
                <a:latin typeface="Pretendard"/>
              </a:rPr>
              <a:t>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178" y="2400300"/>
            <a:ext cx="1231896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20">
                <a:solidFill>
                  <a:srgbClr val="FFFFFF"/>
                </a:solidFill>
                <a:latin typeface="Pretendard"/>
              </a:rPr>
              <a:t>missing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6398" y="2692400"/>
            <a:ext cx="9397976" cy="4064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0698" y="2819399"/>
            <a:ext cx="3327391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Pretendard"/>
              </a:rPr>
              <a:t>dataset1_raw_only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76689" y="2819399"/>
            <a:ext cx="1231896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4,799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7186" y="2819399"/>
            <a:ext cx="1231896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7682" y="2819399"/>
            <a:ext cx="1231896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58178" y="2819399"/>
            <a:ext cx="1231896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1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6398" y="3098800"/>
            <a:ext cx="9397977" cy="0"/>
          </a:xfrm>
          <a:prstGeom prst="line">
            <a:avLst/>
          </a:prstGeom>
          <a:ln w="9525">
            <a:solidFill>
              <a:srgbClr val="EAEC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20698" y="3225800"/>
            <a:ext cx="3327391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Pretendard"/>
              </a:rPr>
              <a:t>dataset2_raw_plus_derived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76689" y="3225800"/>
            <a:ext cx="1231896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4,799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7186" y="3225800"/>
            <a:ext cx="1231896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7682" y="3225800"/>
            <a:ext cx="1231896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178" y="3225800"/>
            <a:ext cx="1231896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1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06398" y="3505199"/>
            <a:ext cx="9397977" cy="0"/>
          </a:xfrm>
          <a:prstGeom prst="line">
            <a:avLst/>
          </a:prstGeom>
          <a:ln w="9525">
            <a:solidFill>
              <a:srgbClr val="EAEC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406398" y="3505199"/>
            <a:ext cx="9397976" cy="4064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0698" y="3632199"/>
            <a:ext cx="3327391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Pretendard"/>
              </a:rPr>
              <a:t>dataset3_diff_only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76689" y="3632199"/>
            <a:ext cx="1231896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4,799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7186" y="3632199"/>
            <a:ext cx="1231896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13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7682" y="3632199"/>
            <a:ext cx="1231896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178" y="3632199"/>
            <a:ext cx="1231896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1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06398" y="3911600"/>
            <a:ext cx="9397977" cy="0"/>
          </a:xfrm>
          <a:prstGeom prst="line">
            <a:avLst/>
          </a:prstGeom>
          <a:ln w="9525">
            <a:solidFill>
              <a:srgbClr val="EAEC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20698" y="4038599"/>
            <a:ext cx="3327391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Pretendard"/>
              </a:rPr>
              <a:t>dataset4_derived_full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76689" y="4038599"/>
            <a:ext cx="1231896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4,799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37186" y="4038599"/>
            <a:ext cx="1231896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7682" y="4038599"/>
            <a:ext cx="1231896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178" y="4038599"/>
            <a:ext cx="1231896" cy="2666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1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06398" y="4318000"/>
            <a:ext cx="9397977" cy="0"/>
          </a:xfrm>
          <a:prstGeom prst="line">
            <a:avLst/>
          </a:prstGeom>
          <a:ln w="9525">
            <a:solidFill>
              <a:srgbClr val="EAEC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06398" y="5969000"/>
            <a:ext cx="10794973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07A8A"/>
                </a:solidFill>
                <a:latin typeface="Pretendard"/>
              </a:rPr>
              <a:t>Source: outputs/dataset_comparison/dataset_summary.csv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06398" y="6413500"/>
            <a:ext cx="11379172" cy="0"/>
          </a:xfrm>
          <a:prstGeom prst="line">
            <a:avLst/>
          </a:prstGeom>
          <a:ln w="9525">
            <a:solidFill>
              <a:srgbClr val="EAEC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06398" y="6477000"/>
            <a:ext cx="6984982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07A8A"/>
                </a:solidFill>
                <a:latin typeface="Pretendard"/>
              </a:rPr>
              <a:t>Final · 유가 예측 모델링 · 2026-05-16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44988" y="6477000"/>
            <a:ext cx="7340581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07A8A"/>
                </a:solidFill>
                <a:latin typeface="Pretendard"/>
              </a:rPr>
              <a:t>DH-Jeon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6398" y="279400"/>
            <a:ext cx="253999" cy="254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98" y="304800"/>
            <a:ext cx="203199" cy="20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1998" y="342900"/>
            <a:ext cx="507998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50">
                <a:solidFill>
                  <a:srgbClr val="FCD535"/>
                </a:solidFill>
                <a:latin typeface="Pretendard"/>
              </a:rPr>
              <a:t>02 ·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583" y="342900"/>
            <a:ext cx="507998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707A8A"/>
                </a:solidFill>
                <a:latin typeface="JetBrains Mono"/>
              </a:rPr>
              <a:t>07 / 23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06398" y="609600"/>
            <a:ext cx="11379172" cy="0"/>
          </a:xfrm>
          <a:prstGeom prst="line">
            <a:avLst/>
          </a:prstGeom>
          <a:ln w="9525">
            <a:solidFill>
              <a:srgbClr val="2B31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06398" y="787400"/>
            <a:ext cx="9524976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CD535"/>
                </a:solidFill>
                <a:latin typeface="Pretendard"/>
              </a:rPr>
              <a:t>COLUMN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398" y="965200"/>
            <a:ext cx="10794973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Pretendard"/>
              </a:rPr>
              <a:t>변수 구성: raw vs derived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398" y="1574800"/>
            <a:ext cx="10794973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929AA5"/>
                </a:solidFill>
                <a:latin typeface="Pretendard"/>
              </a:rPr>
              <a:t>dataset2 / 4 는 파생변수 14개 추가 (모멘텀·변동성·이동평균·이벤트)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398" y="2032000"/>
            <a:ext cx="5587986" cy="3429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598" y="2209800"/>
            <a:ext cx="518158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CD535"/>
                </a:solidFill>
                <a:latin typeface="JetBrains Mono"/>
              </a:rPr>
              <a:t>RAW (12)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98" y="2540000"/>
            <a:ext cx="5181587" cy="279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600" b="0" i="0">
                <a:solidFill>
                  <a:srgbClr val="EAECEF"/>
                </a:solidFill>
                <a:latin typeface="Pretendard"/>
              </a:rPr>
              <a:t>OilPrice 계열 외 거시지표
VIX · CPI · CPE · TermSpread
FedFundsRate · TreasuryYield
DollarIndex · IndustryProduction
OilInventories · OilProduction
OPECProduction · RealInterestRate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7584" y="2032000"/>
            <a:ext cx="5587986" cy="3429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783" y="2209800"/>
            <a:ext cx="518158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CD535"/>
                </a:solidFill>
                <a:latin typeface="JetBrains Mono"/>
              </a:rPr>
              <a:t>DERIVED (+14)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83" y="2540000"/>
            <a:ext cx="5181587" cy="279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600" b="0" i="0">
                <a:solidFill>
                  <a:srgbClr val="EAECEF"/>
                </a:solidFill>
                <a:latin typeface="Pretendard"/>
              </a:rPr>
              <a:t>MA_5 · MA_20 · MA_ratio · MA_5_gt_MA_20
oil_diff_lag1 · oil_diff_lag5
oil_momentum_5 · oil_momentum_20
oil_volatility_5 · oil_volatility_20
TermSpread_inversion · vix_high
is_monday · is_friday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398" y="5969000"/>
            <a:ext cx="10794973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07A8A"/>
                </a:solidFill>
                <a:latin typeface="Pretendard"/>
              </a:rPr>
              <a:t>Source: outputs/dataset_comparison/column_compare.csv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6398" y="6413500"/>
            <a:ext cx="11379172" cy="0"/>
          </a:xfrm>
          <a:prstGeom prst="line">
            <a:avLst/>
          </a:prstGeom>
          <a:ln w="9525">
            <a:solidFill>
              <a:srgbClr val="2B31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06398" y="6477000"/>
            <a:ext cx="6984982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07A8A"/>
                </a:solidFill>
                <a:latin typeface="Pretendard"/>
              </a:rPr>
              <a:t>Final · 유가 예측 모델링 · 2026-05-16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4988" y="6477000"/>
            <a:ext cx="7340581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07A8A"/>
                </a:solidFill>
                <a:latin typeface="Pretendard"/>
              </a:rPr>
              <a:t>DH-Jeon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3429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98" y="1270000"/>
            <a:ext cx="5079987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 i="0">
                <a:solidFill>
                  <a:srgbClr val="181A20"/>
                </a:solidFill>
                <a:latin typeface="JetBrains Mon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98" y="3809999"/>
            <a:ext cx="9524976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FFFFFF"/>
                </a:solidFill>
                <a:latin typeface="Pretendard"/>
              </a:rPr>
              <a:t>EDA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6398" y="279400"/>
            <a:ext cx="253999" cy="254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98" y="304800"/>
            <a:ext cx="203199" cy="20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1998" y="342900"/>
            <a:ext cx="507998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50">
                <a:solidFill>
                  <a:srgbClr val="FCD535"/>
                </a:solidFill>
                <a:latin typeface="Pretendard"/>
              </a:rPr>
              <a:t>03 · 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583" y="342900"/>
            <a:ext cx="507998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707A8A"/>
                </a:solidFill>
                <a:latin typeface="JetBrains Mono"/>
              </a:rPr>
              <a:t>09 / 23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06398" y="609600"/>
            <a:ext cx="11379172" cy="0"/>
          </a:xfrm>
          <a:prstGeom prst="line">
            <a:avLst/>
          </a:prstGeom>
          <a:ln w="9525">
            <a:solidFill>
              <a:srgbClr val="2B31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06398" y="787400"/>
            <a:ext cx="9524976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CD535"/>
                </a:solidFill>
                <a:latin typeface="Pretendard"/>
              </a:rPr>
              <a:t>STATIONARITY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398" y="965200"/>
            <a:ext cx="10794973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Pretendard"/>
              </a:rPr>
              <a:t>정상성 확보를 위한 차분 변환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398" y="1574800"/>
            <a:ext cx="10794973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929AA5"/>
                </a:solidFill>
                <a:latin typeface="Pretendard"/>
              </a:rPr>
              <a:t>원시 시계열 vs 1차 차분 — 평균/분산 안정화 확인</a:t>
            </a:r>
          </a:p>
        </p:txBody>
      </p:sp>
      <p:pic>
        <p:nvPicPr>
          <p:cNvPr id="10" name="Picture 9" descr="diff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98" y="2032000"/>
            <a:ext cx="11379171" cy="3683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6398" y="5969000"/>
            <a:ext cx="10794973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07A8A"/>
                </a:solidFill>
                <a:latin typeface="Pretendard"/>
              </a:rPr>
              <a:t>Source: outputs/EDA/diff_comparison.png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6398" y="6413500"/>
            <a:ext cx="11379172" cy="0"/>
          </a:xfrm>
          <a:prstGeom prst="line">
            <a:avLst/>
          </a:prstGeom>
          <a:ln w="9525">
            <a:solidFill>
              <a:srgbClr val="2B31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06398" y="6477000"/>
            <a:ext cx="6984982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07A8A"/>
                </a:solidFill>
                <a:latin typeface="Pretendard"/>
              </a:rPr>
              <a:t>Final · 유가 예측 모델링 · 2026-05-16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4988" y="6477000"/>
            <a:ext cx="7340581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07A8A"/>
                </a:solidFill>
                <a:latin typeface="Pretendard"/>
              </a:rPr>
              <a:t>DH-Jeon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6398" y="279400"/>
            <a:ext cx="253999" cy="254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98" y="304800"/>
            <a:ext cx="203199" cy="20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1998" y="342900"/>
            <a:ext cx="507998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50">
                <a:solidFill>
                  <a:srgbClr val="FCD535"/>
                </a:solidFill>
                <a:latin typeface="Pretendard"/>
              </a:rPr>
              <a:t>03 · 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583" y="342900"/>
            <a:ext cx="507998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707A8A"/>
                </a:solidFill>
                <a:latin typeface="JetBrains Mono"/>
              </a:rPr>
              <a:t>10 / 23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06398" y="609600"/>
            <a:ext cx="11379172" cy="0"/>
          </a:xfrm>
          <a:prstGeom prst="line">
            <a:avLst/>
          </a:prstGeom>
          <a:ln w="9525">
            <a:solidFill>
              <a:srgbClr val="2B31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06398" y="787400"/>
            <a:ext cx="9524976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CD535"/>
                </a:solidFill>
                <a:latin typeface="Pretendard"/>
              </a:rPr>
              <a:t>VIF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398" y="965200"/>
            <a:ext cx="10794973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Pretendard"/>
              </a:rPr>
              <a:t>차분 후 다중공선성 진단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398" y="1574800"/>
            <a:ext cx="10794973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929AA5"/>
                </a:solidFill>
                <a:latin typeface="Pretendard"/>
              </a:rPr>
              <a:t>VIF 모두 &lt; 5 — 회귀 입력 변수로 안정</a:t>
            </a:r>
          </a:p>
        </p:txBody>
      </p:sp>
      <p:pic>
        <p:nvPicPr>
          <p:cNvPr id="10" name="Picture 9" descr="diff3_v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98" y="2032000"/>
            <a:ext cx="11379171" cy="3683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6398" y="5969000"/>
            <a:ext cx="10794973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07A8A"/>
                </a:solidFill>
                <a:latin typeface="Pretendard"/>
              </a:rPr>
              <a:t>Source: outputs/EDA/diff3_vif.png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6398" y="6413500"/>
            <a:ext cx="11379172" cy="0"/>
          </a:xfrm>
          <a:prstGeom prst="line">
            <a:avLst/>
          </a:prstGeom>
          <a:ln w="9525">
            <a:solidFill>
              <a:srgbClr val="2B31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06398" y="6477000"/>
            <a:ext cx="6984982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07A8A"/>
                </a:solidFill>
                <a:latin typeface="Pretendard"/>
              </a:rPr>
              <a:t>Final · 유가 예측 모델링 · 2026-05-16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4988" y="6477000"/>
            <a:ext cx="7340581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07A8A"/>
                </a:solidFill>
                <a:latin typeface="Pretendard"/>
              </a:rPr>
              <a:t>DH-Jeon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3429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98" y="1270000"/>
            <a:ext cx="5079987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 i="0">
                <a:solidFill>
                  <a:srgbClr val="181A20"/>
                </a:solidFill>
                <a:latin typeface="JetBrains Mono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98" y="3809999"/>
            <a:ext cx="9524976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FFFFFF"/>
                </a:solidFill>
                <a:latin typeface="Pretendard"/>
              </a:rPr>
              <a:t>Modeling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98" y="279400"/>
            <a:ext cx="253999" cy="25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98" y="342900"/>
            <a:ext cx="507998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50">
                <a:solidFill>
                  <a:srgbClr val="FCD535"/>
                </a:solidFill>
                <a:latin typeface="Pretendard"/>
              </a:rPr>
              <a:t>04 · MODELING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583" y="342900"/>
            <a:ext cx="507998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707A8A"/>
                </a:solidFill>
                <a:latin typeface="JetBrains Mono"/>
              </a:rPr>
              <a:t>12 / 23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06398" y="609600"/>
            <a:ext cx="11379172" cy="0"/>
          </a:xfrm>
          <a:prstGeom prst="line">
            <a:avLst/>
          </a:prstGeom>
          <a:ln w="9525">
            <a:solidFill>
              <a:srgbClr val="EAEC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6398" y="965200"/>
            <a:ext cx="10794973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181A20"/>
                </a:solidFill>
                <a:latin typeface="Pretendard"/>
              </a:rPr>
              <a:t>OLS · Ridge · Lasso 성능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398" y="1574800"/>
            <a:ext cx="10794973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707A8A"/>
                </a:solidFill>
                <a:latin typeface="Pretendard"/>
              </a:rPr>
              <a:t>dataset 4종 × 모델 3종 — best by RMSE 기준</a:t>
            </a:r>
          </a:p>
        </p:txBody>
      </p:sp>
      <p:sp>
        <p:nvSpPr>
          <p:cNvPr id="8" name="Rectangle 7"/>
          <p:cNvSpPr/>
          <p:nvPr/>
        </p:nvSpPr>
        <p:spPr>
          <a:xfrm>
            <a:off x="406398" y="2286000"/>
            <a:ext cx="9397976" cy="380999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0698" y="2387600"/>
            <a:ext cx="3073392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20">
                <a:solidFill>
                  <a:srgbClr val="FFFFFF"/>
                </a:solidFill>
                <a:latin typeface="Pretendard"/>
              </a:rPr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22690" y="2387600"/>
            <a:ext cx="1168397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20">
                <a:solidFill>
                  <a:srgbClr val="FFFFFF"/>
                </a:solidFill>
                <a:latin typeface="Pretendard"/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9686" y="2387600"/>
            <a:ext cx="1041397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 spc="120">
                <a:solidFill>
                  <a:srgbClr val="FFFFFF"/>
                </a:solidFill>
                <a:latin typeface="Pretendard"/>
              </a:rPr>
              <a:t>MAE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9683" y="2387600"/>
            <a:ext cx="1041397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 spc="120">
                <a:solidFill>
                  <a:srgbClr val="FFFFFF"/>
                </a:solidFill>
                <a:latin typeface="Pretendard"/>
              </a:rPr>
              <a:t>RMSE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59680" y="2387600"/>
            <a:ext cx="1041397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 spc="120">
                <a:solidFill>
                  <a:srgbClr val="FFFFFF"/>
                </a:solidFill>
                <a:latin typeface="Pretendard"/>
              </a:rPr>
              <a:t>R²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29677" y="2387600"/>
            <a:ext cx="660398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 spc="120">
                <a:solidFill>
                  <a:srgbClr val="FFFFFF"/>
                </a:solidFill>
                <a:latin typeface="Pretendard"/>
              </a:rPr>
              <a:t>Dir.Acc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6398" y="2667000"/>
            <a:ext cx="9397976" cy="3809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0698" y="2781300"/>
            <a:ext cx="3073392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Pretendard"/>
              </a:rPr>
              <a:t>dataset1_raw_only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22690" y="2781300"/>
            <a:ext cx="1168397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Pretendard"/>
              </a:rPr>
              <a:t>Lasso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9686" y="2781300"/>
            <a:ext cx="1041397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1.3377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9683" y="2781300"/>
            <a:ext cx="1041397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1.8420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59680" y="2781300"/>
            <a:ext cx="1041397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-0.029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9677" y="2781300"/>
            <a:ext cx="660398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51.7%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06398" y="3047999"/>
            <a:ext cx="9397977" cy="0"/>
          </a:xfrm>
          <a:prstGeom prst="line">
            <a:avLst/>
          </a:prstGeom>
          <a:ln w="9525">
            <a:solidFill>
              <a:srgbClr val="EAEC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0698" y="3162299"/>
            <a:ext cx="3073392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Pretendard"/>
              </a:rPr>
              <a:t>dataset2_raw_plus_derived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22690" y="3162299"/>
            <a:ext cx="1168397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Pretendard"/>
              </a:rPr>
              <a:t>Lasso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9686" y="3162299"/>
            <a:ext cx="1041397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1.4917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9683" y="3162299"/>
            <a:ext cx="1041397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1.9594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59680" y="3162299"/>
            <a:ext cx="1041397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-0.164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29677" y="3162299"/>
            <a:ext cx="660398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51.7%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06398" y="3429000"/>
            <a:ext cx="9397977" cy="0"/>
          </a:xfrm>
          <a:prstGeom prst="line">
            <a:avLst/>
          </a:prstGeom>
          <a:ln w="9525">
            <a:solidFill>
              <a:srgbClr val="EAEC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406398" y="3429000"/>
            <a:ext cx="9397976" cy="380999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0698" y="3543300"/>
            <a:ext cx="3073392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Pretendard"/>
              </a:rPr>
              <a:t>dataset3_diff_only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22690" y="3543300"/>
            <a:ext cx="1168397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Pretendard"/>
              </a:rPr>
              <a:t>Lasso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9686" y="3543300"/>
            <a:ext cx="1041397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1.3259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89683" y="3543300"/>
            <a:ext cx="1041397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1.8245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59680" y="3543300"/>
            <a:ext cx="1041397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-0.010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29677" y="3543300"/>
            <a:ext cx="660398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50.0%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06398" y="3809999"/>
            <a:ext cx="9397977" cy="0"/>
          </a:xfrm>
          <a:prstGeom prst="line">
            <a:avLst/>
          </a:prstGeom>
          <a:ln w="9525">
            <a:solidFill>
              <a:srgbClr val="EAEC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20698" y="3924299"/>
            <a:ext cx="3073392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Pretendard"/>
              </a:rPr>
              <a:t>dataset4_derived_full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22690" y="3924299"/>
            <a:ext cx="1168397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Pretendard"/>
              </a:rPr>
              <a:t>Lasso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9686" y="3924299"/>
            <a:ext cx="1041397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1.3529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89683" y="3924299"/>
            <a:ext cx="1041397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1.8727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59680" y="3924299"/>
            <a:ext cx="1041397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-0.064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29677" y="3924299"/>
            <a:ext cx="660398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51.8%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06398" y="4190999"/>
            <a:ext cx="9397977" cy="0"/>
          </a:xfrm>
          <a:prstGeom prst="line">
            <a:avLst/>
          </a:prstGeom>
          <a:ln w="9525">
            <a:solidFill>
              <a:srgbClr val="EAEC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06398" y="5969000"/>
            <a:ext cx="10794973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07A8A"/>
                </a:solidFill>
                <a:latin typeface="Pretendard"/>
              </a:rPr>
              <a:t>Source: outputs/dataset_comparison/model_compare.csv  ·  best_by_direction.csv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06398" y="6413500"/>
            <a:ext cx="11379172" cy="0"/>
          </a:xfrm>
          <a:prstGeom prst="line">
            <a:avLst/>
          </a:prstGeom>
          <a:ln w="9525">
            <a:solidFill>
              <a:srgbClr val="EAEC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06398" y="6477000"/>
            <a:ext cx="6984982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07A8A"/>
                </a:solidFill>
                <a:latin typeface="Pretendard"/>
              </a:rPr>
              <a:t>Final · 유가 예측 모델링 · 2026-05-16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44988" y="6477000"/>
            <a:ext cx="7340581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07A8A"/>
                </a:solidFill>
                <a:latin typeface="Pretendard"/>
              </a:rPr>
              <a:t>DH-Jeon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6398" y="279400"/>
            <a:ext cx="253999" cy="254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98" y="304800"/>
            <a:ext cx="203199" cy="20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1998" y="342900"/>
            <a:ext cx="507998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50">
                <a:solidFill>
                  <a:srgbClr val="FCD535"/>
                </a:solidFill>
                <a:latin typeface="Pretendard"/>
              </a:rPr>
              <a:t>04 ·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583" y="342900"/>
            <a:ext cx="507998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707A8A"/>
                </a:solidFill>
                <a:latin typeface="JetBrains Mono"/>
              </a:rPr>
              <a:t>13 / 23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06398" y="609600"/>
            <a:ext cx="11379172" cy="0"/>
          </a:xfrm>
          <a:prstGeom prst="line">
            <a:avLst/>
          </a:prstGeom>
          <a:ln w="9525">
            <a:solidFill>
              <a:srgbClr val="2B31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06398" y="787400"/>
            <a:ext cx="9524976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CD535"/>
                </a:solidFill>
                <a:latin typeface="Pretendard"/>
              </a:rPr>
              <a:t>BEST CV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398" y="965200"/>
            <a:ext cx="10794973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Pretendard"/>
              </a:rPr>
              <a:t>LGBM 튜닝 — dataset4 / 36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398" y="1574800"/>
            <a:ext cx="10794973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929AA5"/>
                </a:solidFill>
                <a:latin typeface="Pretendard"/>
              </a:rPr>
              <a:t>Optuna 40 trials · TimeSeriesSplit 5-fold CV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667000"/>
            <a:ext cx="12191969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0" b="1" i="0">
                <a:solidFill>
                  <a:srgbClr val="FCD535"/>
                </a:solidFill>
                <a:latin typeface="JetBrains Mono"/>
              </a:rPr>
              <a:t>1.7976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064000"/>
            <a:ext cx="1219196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929AA5"/>
                </a:solidFill>
                <a:latin typeface="Pretendard"/>
              </a:rPr>
              <a:t>5-fold OOS RMSE  (Baseline 1.8014 → Tuned 1.7976)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445000"/>
            <a:ext cx="1219196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EAECEF"/>
                </a:solidFill>
                <a:latin typeface="Pretendard"/>
              </a:rPr>
              <a:t>MAE 1.1515  ·  R² +0.0001  —  단순 평균 대비 통계적 동등 수준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398" y="5969000"/>
            <a:ext cx="10794973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07A8A"/>
                </a:solidFill>
                <a:latin typeface="Pretendard"/>
              </a:rPr>
              <a:t>Source: src/Modeling_LGBM.ipynb · §6 튜닝 결과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6398" y="6413500"/>
            <a:ext cx="11379172" cy="0"/>
          </a:xfrm>
          <a:prstGeom prst="line">
            <a:avLst/>
          </a:prstGeom>
          <a:ln w="9525">
            <a:solidFill>
              <a:srgbClr val="2B31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06398" y="6477000"/>
            <a:ext cx="6984982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07A8A"/>
                </a:solidFill>
                <a:latin typeface="Pretendard"/>
              </a:rPr>
              <a:t>Final · 유가 예측 모델링 · 2026-05-16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4988" y="6477000"/>
            <a:ext cx="7340581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07A8A"/>
                </a:solidFill>
                <a:latin typeface="Pretendard"/>
              </a:rPr>
              <a:t>DH-Jeon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6398" y="279400"/>
            <a:ext cx="253999" cy="254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98" y="304800"/>
            <a:ext cx="203199" cy="20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1998" y="342900"/>
            <a:ext cx="507998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50">
                <a:solidFill>
                  <a:srgbClr val="FCD535"/>
                </a:solidFill>
                <a:latin typeface="Pretendard"/>
              </a:rPr>
              <a:t>04 ·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583" y="342900"/>
            <a:ext cx="507998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707A8A"/>
                </a:solidFill>
                <a:latin typeface="JetBrains Mono"/>
              </a:rPr>
              <a:t>14 / 23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06398" y="609600"/>
            <a:ext cx="11379172" cy="0"/>
          </a:xfrm>
          <a:prstGeom prst="line">
            <a:avLst/>
          </a:prstGeom>
          <a:ln w="9525">
            <a:solidFill>
              <a:srgbClr val="2B31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06398" y="787400"/>
            <a:ext cx="9524976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CD535"/>
                </a:solidFill>
                <a:latin typeface="Pretendard"/>
              </a:rPr>
              <a:t>RANK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398" y="965200"/>
            <a:ext cx="10794973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Pretendard"/>
              </a:rPr>
              <a:t>OLS vs LGBM — 변수 중요도 순위 비교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398" y="1574800"/>
            <a:ext cx="10794973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929AA5"/>
                </a:solidFill>
                <a:latin typeface="Pretendard"/>
              </a:rPr>
              <a:t>선형 회귀 계수와 LGBM SHAP 순위의 매칭</a:t>
            </a:r>
          </a:p>
        </p:txBody>
      </p:sp>
      <p:pic>
        <p:nvPicPr>
          <p:cNvPr id="10" name="Picture 9" descr="ols_vs_lgbm_ra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98" y="2032000"/>
            <a:ext cx="11379171" cy="3683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6398" y="5969000"/>
            <a:ext cx="10794973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07A8A"/>
                </a:solidFill>
                <a:latin typeface="Pretendard"/>
              </a:rPr>
              <a:t>Source: outputs/Modeling/ols_vs_lgbm_rank.png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6398" y="6413500"/>
            <a:ext cx="11379172" cy="0"/>
          </a:xfrm>
          <a:prstGeom prst="line">
            <a:avLst/>
          </a:prstGeom>
          <a:ln w="9525">
            <a:solidFill>
              <a:srgbClr val="2B31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06398" y="6477000"/>
            <a:ext cx="6984982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07A8A"/>
                </a:solidFill>
                <a:latin typeface="Pretendard"/>
              </a:rPr>
              <a:t>Final · 유가 예측 모델링 · 2026-05-16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4988" y="6477000"/>
            <a:ext cx="7340581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07A8A"/>
                </a:solidFill>
                <a:latin typeface="Pretendard"/>
              </a:rPr>
              <a:t>DH-Jeon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3429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98" y="1270000"/>
            <a:ext cx="5079987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 i="0">
                <a:solidFill>
                  <a:srgbClr val="181A20"/>
                </a:solidFill>
                <a:latin typeface="JetBrains Mono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98" y="3809999"/>
            <a:ext cx="9524976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FFFFFF"/>
                </a:solidFill>
                <a:latin typeface="Pretendard"/>
              </a:rPr>
              <a:t>SHAP Analysis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6398" y="279400"/>
            <a:ext cx="253999" cy="254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98" y="304800"/>
            <a:ext cx="203199" cy="20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1998" y="342900"/>
            <a:ext cx="507998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50">
                <a:solidFill>
                  <a:srgbClr val="FCD535"/>
                </a:solidFill>
                <a:latin typeface="Pretendard"/>
              </a:rPr>
              <a:t>05 · SHAP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583" y="342900"/>
            <a:ext cx="507998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707A8A"/>
                </a:solidFill>
                <a:latin typeface="JetBrains Mono"/>
              </a:rPr>
              <a:t>16 / 23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06398" y="609600"/>
            <a:ext cx="11379172" cy="0"/>
          </a:xfrm>
          <a:prstGeom prst="line">
            <a:avLst/>
          </a:prstGeom>
          <a:ln w="9525">
            <a:solidFill>
              <a:srgbClr val="2B31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06398" y="787400"/>
            <a:ext cx="9524976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CD535"/>
                </a:solidFill>
                <a:latin typeface="Pretendard"/>
              </a:rPr>
              <a:t>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398" y="965200"/>
            <a:ext cx="10794973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Pretendard"/>
              </a:rPr>
              <a:t>SHAP summary — 변수별 기여 분포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398" y="1574800"/>
            <a:ext cx="10794973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929AA5"/>
                </a:solidFill>
                <a:latin typeface="Pretendard"/>
              </a:rPr>
              <a:t>dataset4 36 features · 4,798 obs · TreeExplainer</a:t>
            </a:r>
          </a:p>
        </p:txBody>
      </p:sp>
      <p:pic>
        <p:nvPicPr>
          <p:cNvPr id="10" name="Picture 9" descr="shap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98" y="2032000"/>
            <a:ext cx="11379171" cy="3683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6398" y="5969000"/>
            <a:ext cx="10794973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07A8A"/>
                </a:solidFill>
                <a:latin typeface="Pretendard"/>
              </a:rPr>
              <a:t>Source: outputs/Modeling/shap_summary.png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6398" y="6413500"/>
            <a:ext cx="11379172" cy="0"/>
          </a:xfrm>
          <a:prstGeom prst="line">
            <a:avLst/>
          </a:prstGeom>
          <a:ln w="9525">
            <a:solidFill>
              <a:srgbClr val="2B31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06398" y="6477000"/>
            <a:ext cx="6984982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07A8A"/>
                </a:solidFill>
                <a:latin typeface="Pretendard"/>
              </a:rPr>
              <a:t>Final · 유가 예측 모델링 · 2026-05-16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4988" y="6477000"/>
            <a:ext cx="7340581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07A8A"/>
                </a:solidFill>
                <a:latin typeface="Pretendard"/>
              </a:rPr>
              <a:t>DH-Jeon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98" y="279400"/>
            <a:ext cx="253999" cy="25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98" y="342900"/>
            <a:ext cx="507998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50">
                <a:solidFill>
                  <a:srgbClr val="FCD535"/>
                </a:solidFill>
                <a:latin typeface="Pretendard"/>
              </a:rPr>
              <a:t>05 · SHAP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583" y="342900"/>
            <a:ext cx="507998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707A8A"/>
                </a:solidFill>
                <a:latin typeface="JetBrains Mono"/>
              </a:rPr>
              <a:t>17 / 23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06398" y="609600"/>
            <a:ext cx="11379172" cy="0"/>
          </a:xfrm>
          <a:prstGeom prst="line">
            <a:avLst/>
          </a:prstGeom>
          <a:ln w="9525">
            <a:solidFill>
              <a:srgbClr val="EAEC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6398" y="965200"/>
            <a:ext cx="10794973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181A20"/>
                </a:solidFill>
                <a:latin typeface="Pretendard"/>
              </a:rPr>
              <a:t>SHAP 중요도 TOP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398" y="1574800"/>
            <a:ext cx="10794973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707A8A"/>
                </a:solidFill>
                <a:latin typeface="Pretendard"/>
              </a:rPr>
              <a:t>mean |SHAP| 기준 — 거시 · 시계열 · 기술 변수가 혼재</a:t>
            </a:r>
          </a:p>
        </p:txBody>
      </p:sp>
      <p:sp>
        <p:nvSpPr>
          <p:cNvPr id="8" name="Rectangle 7"/>
          <p:cNvSpPr/>
          <p:nvPr/>
        </p:nvSpPr>
        <p:spPr>
          <a:xfrm>
            <a:off x="406398" y="2159000"/>
            <a:ext cx="11429971" cy="317500"/>
          </a:xfrm>
          <a:prstGeom prst="rect">
            <a:avLst/>
          </a:prstGeom>
          <a:solidFill>
            <a:srgbClr val="2B31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0698" y="2235200"/>
            <a:ext cx="914397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 spc="120">
                <a:solidFill>
                  <a:srgbClr val="FFFFFF"/>
                </a:solidFill>
                <a:latin typeface="Pretendard"/>
              </a:rPr>
              <a:t>rank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3695" y="2235200"/>
            <a:ext cx="4343389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20">
                <a:solidFill>
                  <a:srgbClr val="FFFFFF"/>
                </a:solidFill>
                <a:latin typeface="Pretendard"/>
              </a:rPr>
              <a:t>변수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5684" y="2235200"/>
            <a:ext cx="2565393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 spc="120">
                <a:solidFill>
                  <a:srgbClr val="FFFFFF"/>
                </a:solidFill>
                <a:latin typeface="Pretendard"/>
              </a:rPr>
              <a:t>mean |SHAP|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29677" y="2235200"/>
            <a:ext cx="2692393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 spc="120">
                <a:solidFill>
                  <a:srgbClr val="FFFFFF"/>
                </a:solidFill>
                <a:latin typeface="Pretendard"/>
              </a:rPr>
              <a:t>그룹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398" y="2476499"/>
            <a:ext cx="11429971" cy="3175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698" y="2565400"/>
            <a:ext cx="914397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3695" y="2565400"/>
            <a:ext cx="434338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Pretendard"/>
              </a:rPr>
              <a:t>OilInventories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5684" y="2565400"/>
            <a:ext cx="256539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0.04621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29677" y="2565400"/>
            <a:ext cx="269239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Pretendard"/>
              </a:rPr>
              <a:t>거시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06398" y="2794000"/>
            <a:ext cx="11429972" cy="0"/>
          </a:xfrm>
          <a:prstGeom prst="line">
            <a:avLst/>
          </a:prstGeom>
          <a:ln w="9525">
            <a:solidFill>
              <a:srgbClr val="EAEC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20698" y="2882900"/>
            <a:ext cx="914397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3695" y="2882900"/>
            <a:ext cx="434338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Pretendard"/>
              </a:rPr>
              <a:t>VIX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5684" y="2882900"/>
            <a:ext cx="256539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0.04052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29677" y="2882900"/>
            <a:ext cx="269239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Pretendard"/>
              </a:rPr>
              <a:t>거시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06398" y="3111500"/>
            <a:ext cx="11429972" cy="0"/>
          </a:xfrm>
          <a:prstGeom prst="line">
            <a:avLst/>
          </a:prstGeom>
          <a:ln w="9525">
            <a:solidFill>
              <a:srgbClr val="EAEC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06398" y="3111500"/>
            <a:ext cx="11429971" cy="3175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0698" y="3200400"/>
            <a:ext cx="914397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3695" y="3200400"/>
            <a:ext cx="434338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Pretendard"/>
              </a:rPr>
              <a:t>OilPrice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5684" y="3200400"/>
            <a:ext cx="256539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0.03722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29677" y="3200400"/>
            <a:ext cx="269239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Pretendard"/>
              </a:rPr>
              <a:t>시계열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06398" y="3429000"/>
            <a:ext cx="11429972" cy="0"/>
          </a:xfrm>
          <a:prstGeom prst="line">
            <a:avLst/>
          </a:prstGeom>
          <a:ln w="9525">
            <a:solidFill>
              <a:srgbClr val="EAEC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20698" y="3517899"/>
            <a:ext cx="914397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63695" y="3517899"/>
            <a:ext cx="434338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Pretendard"/>
              </a:rPr>
              <a:t>oil_diff_lag5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5684" y="3517899"/>
            <a:ext cx="256539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0.03675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29677" y="3517899"/>
            <a:ext cx="269239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Pretendard"/>
              </a:rPr>
              <a:t>시계열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06398" y="3746500"/>
            <a:ext cx="11429972" cy="0"/>
          </a:xfrm>
          <a:prstGeom prst="line">
            <a:avLst/>
          </a:prstGeom>
          <a:ln w="9525">
            <a:solidFill>
              <a:srgbClr val="EAEC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406398" y="3746500"/>
            <a:ext cx="11429971" cy="3175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0698" y="3835400"/>
            <a:ext cx="914397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63695" y="3835400"/>
            <a:ext cx="434338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Pretendard"/>
              </a:rPr>
              <a:t>oil_volatility_20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35684" y="3835400"/>
            <a:ext cx="256539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0.03602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29677" y="3835400"/>
            <a:ext cx="269239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Pretendard"/>
              </a:rPr>
              <a:t>기술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06398" y="4064000"/>
            <a:ext cx="11429972" cy="0"/>
          </a:xfrm>
          <a:prstGeom prst="line">
            <a:avLst/>
          </a:prstGeom>
          <a:ln w="9525">
            <a:solidFill>
              <a:srgbClr val="EAEC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20698" y="4152899"/>
            <a:ext cx="914397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63695" y="4152899"/>
            <a:ext cx="434338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Pretendard"/>
              </a:rPr>
              <a:t>oil_volatility_5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5684" y="4152899"/>
            <a:ext cx="256539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0.03466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29677" y="4152899"/>
            <a:ext cx="269239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Pretendard"/>
              </a:rPr>
              <a:t>기술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06398" y="4381499"/>
            <a:ext cx="11429972" cy="0"/>
          </a:xfrm>
          <a:prstGeom prst="line">
            <a:avLst/>
          </a:prstGeom>
          <a:ln w="9525">
            <a:solidFill>
              <a:srgbClr val="EAEC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406398" y="4381499"/>
            <a:ext cx="11429971" cy="3175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0698" y="4470400"/>
            <a:ext cx="914397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63695" y="4470400"/>
            <a:ext cx="434338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Pretendard"/>
              </a:rPr>
              <a:t>oil_momentum_5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35684" y="4470400"/>
            <a:ext cx="256539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0.03219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29677" y="4470400"/>
            <a:ext cx="269239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Pretendard"/>
              </a:rPr>
              <a:t>기술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06398" y="4699000"/>
            <a:ext cx="11429972" cy="0"/>
          </a:xfrm>
          <a:prstGeom prst="line">
            <a:avLst/>
          </a:prstGeom>
          <a:ln w="9525">
            <a:solidFill>
              <a:srgbClr val="EAEC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520698" y="4787900"/>
            <a:ext cx="914397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63695" y="4787900"/>
            <a:ext cx="434338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Pretendard"/>
              </a:rPr>
              <a:t>oil_momentum_20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35684" y="4787900"/>
            <a:ext cx="256539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0.03094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29677" y="4787900"/>
            <a:ext cx="269239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Pretendard"/>
              </a:rPr>
              <a:t>기술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406398" y="5016500"/>
            <a:ext cx="11429972" cy="0"/>
          </a:xfrm>
          <a:prstGeom prst="line">
            <a:avLst/>
          </a:prstGeom>
          <a:ln w="9525">
            <a:solidFill>
              <a:srgbClr val="EAEC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406398" y="5016500"/>
            <a:ext cx="11429971" cy="3175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20698" y="5105400"/>
            <a:ext cx="914397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63695" y="5105400"/>
            <a:ext cx="434338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Pretendard"/>
              </a:rPr>
              <a:t>TreasuryYield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35684" y="5105400"/>
            <a:ext cx="256539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0.02924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29677" y="5105400"/>
            <a:ext cx="269239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Pretendard"/>
              </a:rPr>
              <a:t>거시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406398" y="5334000"/>
            <a:ext cx="11429972" cy="0"/>
          </a:xfrm>
          <a:prstGeom prst="line">
            <a:avLst/>
          </a:prstGeom>
          <a:ln w="9525">
            <a:solidFill>
              <a:srgbClr val="EAEC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520698" y="5422900"/>
            <a:ext cx="914397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663695" y="5422900"/>
            <a:ext cx="4343389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Pretendard"/>
              </a:rPr>
              <a:t>MA_ratio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35684" y="5422900"/>
            <a:ext cx="256539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JetBrains Mono"/>
              </a:rPr>
              <a:t>0.02751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29677" y="5422900"/>
            <a:ext cx="2692393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81A20"/>
                </a:solidFill>
                <a:latin typeface="Pretendard"/>
              </a:rPr>
              <a:t>기술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406398" y="5651500"/>
            <a:ext cx="11429972" cy="0"/>
          </a:xfrm>
          <a:prstGeom prst="line">
            <a:avLst/>
          </a:prstGeom>
          <a:ln w="9525">
            <a:solidFill>
              <a:srgbClr val="EAEC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406398" y="5969000"/>
            <a:ext cx="10794973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07A8A"/>
                </a:solidFill>
                <a:latin typeface="Pretendard"/>
              </a:rPr>
              <a:t>Source: src/Modeling_LGBM.ipynb · §8-1 SHAP TOP 15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406398" y="6413500"/>
            <a:ext cx="11379172" cy="0"/>
          </a:xfrm>
          <a:prstGeom prst="line">
            <a:avLst/>
          </a:prstGeom>
          <a:ln w="9525">
            <a:solidFill>
              <a:srgbClr val="EAEC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406398" y="6477000"/>
            <a:ext cx="6984982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07A8A"/>
                </a:solidFill>
                <a:latin typeface="Pretendard"/>
              </a:rPr>
              <a:t>Final · 유가 예측 모델링 · 2026-05-16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444988" y="6477000"/>
            <a:ext cx="7340581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07A8A"/>
                </a:solidFill>
                <a:latin typeface="Pretendard"/>
              </a:rPr>
              <a:t>DH-Jeon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6398" y="279400"/>
            <a:ext cx="253999" cy="254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98" y="304800"/>
            <a:ext cx="203199" cy="20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1998" y="342900"/>
            <a:ext cx="507998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50">
                <a:solidFill>
                  <a:srgbClr val="FCD535"/>
                </a:solidFill>
                <a:latin typeface="Pretendard"/>
              </a:rPr>
              <a:t>05 · SHAP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583" y="342900"/>
            <a:ext cx="507998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707A8A"/>
                </a:solidFill>
                <a:latin typeface="JetBrains Mono"/>
              </a:rPr>
              <a:t>18 / 23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06398" y="609600"/>
            <a:ext cx="11379172" cy="0"/>
          </a:xfrm>
          <a:prstGeom prst="line">
            <a:avLst/>
          </a:prstGeom>
          <a:ln w="9525">
            <a:solidFill>
              <a:srgbClr val="2B31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06398" y="787400"/>
            <a:ext cx="9524976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CD535"/>
                </a:solidFill>
                <a:latin typeface="Pretendard"/>
              </a:rPr>
              <a:t>REGIME-SPECIFIC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398" y="965200"/>
            <a:ext cx="10794973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Pretendard"/>
              </a:rPr>
              <a:t>위기 국면별 SHAP — 지배 변수가 달라진다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398" y="1574800"/>
            <a:ext cx="10794973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929AA5"/>
                </a:solidFill>
                <a:latin typeface="Pretendard"/>
              </a:rPr>
              <a:t>GFC · OPEC · COVID · War · 평시 — TOP 변수 비교</a:t>
            </a:r>
          </a:p>
        </p:txBody>
      </p:sp>
      <p:pic>
        <p:nvPicPr>
          <p:cNvPr id="10" name="Picture 9" descr="shap_by_cris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98" y="2032000"/>
            <a:ext cx="11379171" cy="3683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6398" y="5969000"/>
            <a:ext cx="10794973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07A8A"/>
                </a:solidFill>
                <a:latin typeface="Pretendard"/>
              </a:rPr>
              <a:t>Source: outputs/Modeling/shap_by_crisis.png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6398" y="6413500"/>
            <a:ext cx="11379172" cy="0"/>
          </a:xfrm>
          <a:prstGeom prst="line">
            <a:avLst/>
          </a:prstGeom>
          <a:ln w="9525">
            <a:solidFill>
              <a:srgbClr val="2B31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06398" y="6477000"/>
            <a:ext cx="6984982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07A8A"/>
                </a:solidFill>
                <a:latin typeface="Pretendard"/>
              </a:rPr>
              <a:t>Final · 유가 예측 모델링 · 2026-05-16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4988" y="6477000"/>
            <a:ext cx="7340581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07A8A"/>
                </a:solidFill>
                <a:latin typeface="Pretendard"/>
              </a:rPr>
              <a:t>DH-Jeon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6398" y="279400"/>
            <a:ext cx="253999" cy="254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98" y="304800"/>
            <a:ext cx="203199" cy="20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1998" y="342900"/>
            <a:ext cx="507998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50">
                <a:solidFill>
                  <a:srgbClr val="FCD535"/>
                </a:solidFill>
                <a:latin typeface="Pretendard"/>
              </a:rPr>
              <a:t>05 · SHAP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583" y="342900"/>
            <a:ext cx="507998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707A8A"/>
                </a:solidFill>
                <a:latin typeface="JetBrains Mono"/>
              </a:rPr>
              <a:t>19 / 23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06398" y="609600"/>
            <a:ext cx="11379172" cy="0"/>
          </a:xfrm>
          <a:prstGeom prst="line">
            <a:avLst/>
          </a:prstGeom>
          <a:ln w="9525">
            <a:solidFill>
              <a:srgbClr val="2B31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06398" y="787400"/>
            <a:ext cx="9524976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CD535"/>
                </a:solidFill>
                <a:latin typeface="Pretendard"/>
              </a:rPr>
              <a:t>KEY FINDING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398" y="965200"/>
            <a:ext cx="10794973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Pretendard"/>
              </a:rPr>
              <a:t>CPE — 평시엔 잔잔, COVID에선 폭발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398" y="1574800"/>
            <a:ext cx="10794973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929AA5"/>
                </a:solidFill>
                <a:latin typeface="Pretendard"/>
              </a:rPr>
              <a:t>국면 의존성을 보여주는 대표 변수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667000"/>
            <a:ext cx="12191969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800" b="1" i="0">
                <a:solidFill>
                  <a:srgbClr val="FCD535"/>
                </a:solidFill>
                <a:latin typeface="JetBrains Mono"/>
              </a:rPr>
              <a:t>× 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064000"/>
            <a:ext cx="1219196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>
                <a:solidFill>
                  <a:srgbClr val="929AA5"/>
                </a:solidFill>
                <a:latin typeface="Pretendard"/>
              </a:rPr>
              <a:t>COVID 시기 SHAP 0.85  vs  평시 0.026  —  약 33배 증폭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445000"/>
            <a:ext cx="1219196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EAECEF"/>
                </a:solidFill>
                <a:latin typeface="Pretendard"/>
              </a:rPr>
              <a:t>OLS의 CPE 유의성은 이 COVID 효과가 평균을 끌어올린 결과로 추정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398" y="5969000"/>
            <a:ext cx="10794973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07A8A"/>
                </a:solidFill>
                <a:latin typeface="Pretendard"/>
              </a:rPr>
              <a:t>Source: src/Modeling_LGBM.ipynb · §8-4 위기 국면별 SHAP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6398" y="6413500"/>
            <a:ext cx="11379172" cy="0"/>
          </a:xfrm>
          <a:prstGeom prst="line">
            <a:avLst/>
          </a:prstGeom>
          <a:ln w="9525">
            <a:solidFill>
              <a:srgbClr val="2B31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06398" y="6477000"/>
            <a:ext cx="6984982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07A8A"/>
                </a:solidFill>
                <a:latin typeface="Pretendard"/>
              </a:rPr>
              <a:t>Final · 유가 예측 모델링 · 2026-05-16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4988" y="6477000"/>
            <a:ext cx="7340581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07A8A"/>
                </a:solidFill>
                <a:latin typeface="Pretendard"/>
              </a:rPr>
              <a:t>DH-Jeon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3429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1998" y="1270000"/>
            <a:ext cx="5079987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600" b="1" i="0">
                <a:solidFill>
                  <a:srgbClr val="181A20"/>
                </a:solidFill>
                <a:latin typeface="JetBrains Mono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98" y="3809999"/>
            <a:ext cx="9524976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FFFFFF"/>
                </a:solidFill>
                <a:latin typeface="Pretendard"/>
              </a:rPr>
              <a:t>Conclusion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6398" y="279400"/>
            <a:ext cx="253999" cy="254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98" y="304800"/>
            <a:ext cx="203199" cy="20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1998" y="342900"/>
            <a:ext cx="507998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50">
                <a:solidFill>
                  <a:srgbClr val="FCD535"/>
                </a:solidFill>
                <a:latin typeface="Pretendard"/>
              </a:rPr>
              <a:t>06 ·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583" y="342900"/>
            <a:ext cx="507998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707A8A"/>
                </a:solidFill>
                <a:latin typeface="JetBrains Mono"/>
              </a:rPr>
              <a:t>21 / 23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06398" y="609600"/>
            <a:ext cx="11379172" cy="0"/>
          </a:xfrm>
          <a:prstGeom prst="line">
            <a:avLst/>
          </a:prstGeom>
          <a:ln w="9525">
            <a:solidFill>
              <a:srgbClr val="2B31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06398" y="787400"/>
            <a:ext cx="9524976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CD535"/>
                </a:solidFill>
                <a:latin typeface="Pretendard"/>
              </a:rPr>
              <a:t>WHAT WE LEARNED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398" y="965200"/>
            <a:ext cx="10794973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Pretendard"/>
              </a:rPr>
              <a:t>체계적 변수 vs 비선형 발견 변수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398" y="1574800"/>
            <a:ext cx="10794973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929AA5"/>
                </a:solidFill>
                <a:latin typeface="Pretendard"/>
              </a:rPr>
              <a:t>OLS-LGBM 합의 5종, LGBM 단독 발견 다수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398" y="2032000"/>
            <a:ext cx="5587986" cy="3683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598" y="2235200"/>
            <a:ext cx="5181587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CD535"/>
                </a:solidFill>
                <a:latin typeface="Pretendard"/>
              </a:rPr>
              <a:t>OLS · LGBM 합의 (5)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598" y="2641600"/>
            <a:ext cx="5181587" cy="292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800" b="0" i="0">
                <a:solidFill>
                  <a:srgbClr val="EAECEF"/>
                </a:solidFill>
                <a:latin typeface="Pretendard"/>
              </a:rPr>
              <a:t>OilInventories  ·  MA_ratio
oil_diff_lag1
RealInterestRate
gfc_2008_shock
→ 부호·중요도 모두 일치하는
   robust 결정요인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7584" y="2032000"/>
            <a:ext cx="5587986" cy="3683000"/>
          </a:xfrm>
          <a:prstGeom prst="rect">
            <a:avLst/>
          </a:prstGeom>
          <a:solidFill>
            <a:srgbClr val="1E23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783" y="2235200"/>
            <a:ext cx="5181587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EAECEF"/>
                </a:solidFill>
                <a:latin typeface="Pretendard"/>
              </a:rPr>
              <a:t>LGBM 단독 발견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783" y="2641600"/>
            <a:ext cx="5181587" cy="292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800" b="0" i="0">
                <a:solidFill>
                  <a:srgbClr val="EAECEF"/>
                </a:solidFill>
                <a:latin typeface="Pretendard"/>
              </a:rPr>
              <a:t>VIX  ·  oil_diff_lag5
oil_volatility_5/20
oil_momentum_5/20
OilPrice  ·  TreasuryYield
→ 변동성·모멘텀의 비선형 패턴
   선형 가정으로는 포착 불가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398" y="5969000"/>
            <a:ext cx="10794973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07A8A"/>
                </a:solidFill>
                <a:latin typeface="Pretendard"/>
              </a:rPr>
              <a:t>Source: src/Modeling_LGBM.ipynb · §8-3 핵심 관찰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6398" y="6413500"/>
            <a:ext cx="11379172" cy="0"/>
          </a:xfrm>
          <a:prstGeom prst="line">
            <a:avLst/>
          </a:prstGeom>
          <a:ln w="9525">
            <a:solidFill>
              <a:srgbClr val="2B31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06398" y="6477000"/>
            <a:ext cx="6984982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07A8A"/>
                </a:solidFill>
                <a:latin typeface="Pretendard"/>
              </a:rPr>
              <a:t>Final · 유가 예측 모델링 · 2026-05-16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4988" y="6477000"/>
            <a:ext cx="7340581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07A8A"/>
                </a:solidFill>
                <a:latin typeface="Pretendard"/>
              </a:rPr>
              <a:t>DH-Jeon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06398" y="279400"/>
            <a:ext cx="253999" cy="254000"/>
          </a:xfrm>
          <a:prstGeom prst="rect">
            <a:avLst/>
          </a:prstGeom>
          <a:solidFill>
            <a:srgbClr val="FCD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98" y="304800"/>
            <a:ext cx="203199" cy="20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1998" y="342900"/>
            <a:ext cx="507998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50">
                <a:solidFill>
                  <a:srgbClr val="FCD535"/>
                </a:solidFill>
                <a:latin typeface="Pretendard"/>
              </a:rPr>
              <a:t>06 ·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583" y="342900"/>
            <a:ext cx="5079987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1" i="0">
                <a:solidFill>
                  <a:srgbClr val="707A8A"/>
                </a:solidFill>
                <a:latin typeface="JetBrains Mono"/>
              </a:rPr>
              <a:t>22 / 23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06398" y="609600"/>
            <a:ext cx="11379172" cy="0"/>
          </a:xfrm>
          <a:prstGeom prst="line">
            <a:avLst/>
          </a:prstGeom>
          <a:ln w="9525">
            <a:solidFill>
              <a:srgbClr val="2B31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06398" y="787400"/>
            <a:ext cx="9524976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spc="200">
                <a:solidFill>
                  <a:srgbClr val="FCD535"/>
                </a:solidFill>
                <a:latin typeface="Pretendard"/>
              </a:rPr>
              <a:t>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398" y="965200"/>
            <a:ext cx="10794973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Pretendard"/>
              </a:rPr>
              <a:t>결론 — 예측은 어렵지만, 영향은 식별 가능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398" y="1574800"/>
            <a:ext cx="10794973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929AA5"/>
                </a:solidFill>
                <a:latin typeface="Pretendard"/>
              </a:rPr>
              <a:t>모델 R² ≈ 0.05의 의미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398" y="2159000"/>
            <a:ext cx="507998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CD535"/>
                </a:solidFill>
                <a:latin typeface="JetBrains Mono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5997" y="2197100"/>
            <a:ext cx="10794973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Pretendard"/>
              </a:rPr>
              <a:t>두 모델 모두 R² ≈ 0.05  —  일일 유가 자체는 본질적으로 예측 어려움.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398" y="2794000"/>
            <a:ext cx="507998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CD535"/>
                </a:solidFill>
                <a:latin typeface="JetBrains Mon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5997" y="2832099"/>
            <a:ext cx="10794973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Pretendard"/>
              </a:rPr>
              <a:t>그러나 변수의 체계적 영향(부호·중요도)은 통계적으로 식별 가능.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398" y="3429000"/>
            <a:ext cx="507998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CD535"/>
                </a:solidFill>
                <a:latin typeface="JetBrains Mono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5997" y="3467100"/>
            <a:ext cx="10794973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Pretendard"/>
              </a:rPr>
              <a:t>위기 국면마다 지배 변수가 다름  —  단일 모델 가정은 부적절.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398" y="4064000"/>
            <a:ext cx="507998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CD535"/>
                </a:solidFill>
                <a:latin typeface="JetBrains Mono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5997" y="4102099"/>
            <a:ext cx="10794973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Pretendard"/>
              </a:rPr>
              <a:t>이벤트 더미 설계의 합리성 확인  —  해당 시기 SHAP 상위로 진입.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06398" y="6413500"/>
            <a:ext cx="11379172" cy="0"/>
          </a:xfrm>
          <a:prstGeom prst="line">
            <a:avLst/>
          </a:prstGeom>
          <a:ln w="9525">
            <a:solidFill>
              <a:srgbClr val="2B313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06398" y="6477000"/>
            <a:ext cx="6984982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707A8A"/>
                </a:solidFill>
                <a:latin typeface="Pretendard"/>
              </a:rPr>
              <a:t>Final · 유가 예측 모델링 · 2026-05-16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4988" y="6477000"/>
            <a:ext cx="7340581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707A8A"/>
                </a:solidFill>
                <a:latin typeface="Pretendard"/>
              </a:rPr>
              <a:t>DH-Jeon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1985" y="2286000"/>
            <a:ext cx="507998" cy="50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047999"/>
            <a:ext cx="12191969" cy="380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600" b="1" i="0">
                <a:solidFill>
                  <a:srgbClr val="181A20"/>
                </a:solidFill>
                <a:latin typeface="Pretendard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556000"/>
            <a:ext cx="1219196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0" i="0" spc="200">
                <a:solidFill>
                  <a:srgbClr val="707A8A"/>
                </a:solidFill>
                <a:latin typeface="Pretendard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842000"/>
            <a:ext cx="12191969" cy="1904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707A8A"/>
                </a:solidFill>
                <a:latin typeface="JetBrains Mono"/>
              </a:rPr>
              <a:t>wjsdonghyeon@dgu.ac.kr  ·  github.com/DH-Jeon/BAF-26-1-finance_2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